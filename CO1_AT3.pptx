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4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30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3E84-B8B9-15A1-DB8D-EB8E63C8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9C886-604E-E392-B3E4-F0F21942A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84DCE-D311-FAA9-5859-FFE0B4405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C9AB3-A8D1-2F3B-0124-AA02213C8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74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B635-8313-CFF4-4D9A-792D7F14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79C64-C9CA-34E6-B3C9-59E7E4714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6F88F-827D-50D9-F561-5F2007D1F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DC4DF-4ED1-4446-5625-710D829764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06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D782-095A-5291-BD40-9723F888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A5A54-9698-DECC-FCE8-5120AF834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8909A-BA3F-AA55-D806-74EE9E91E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CF9FE-B650-FDFD-2907-DC054EACC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53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600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CSA1402 – Compiler Design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Presentation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203807" y="278892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“How Modern Programming Languages Are Compiled”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822960" y="46177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Vigneshvar S (192424187)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0" y="50749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N Deepa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31845" y="1746504"/>
            <a:ext cx="11256917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A </a:t>
            </a:r>
            <a:r>
              <a:rPr lang="en-IN" sz="2000" b="1" dirty="0"/>
              <a:t>compiler</a:t>
            </a:r>
            <a:r>
              <a:rPr lang="en-IN" sz="2000" dirty="0"/>
              <a:t> is a software program that translates high-level source code into machine code. </a:t>
            </a:r>
          </a:p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It enables programmers to write code in languages like </a:t>
            </a:r>
            <a:r>
              <a:rPr lang="en-IN" sz="2000" b="1" dirty="0"/>
              <a:t>C, C++, Java, and Python</a:t>
            </a:r>
            <a:r>
              <a:rPr lang="en-IN" sz="2000" dirty="0"/>
              <a:t>, which computers cannot execute directly. Compilation is performed through multiple phases such as </a:t>
            </a:r>
            <a:r>
              <a:rPr lang="en-IN" sz="2000" b="1" dirty="0"/>
              <a:t>Lexical Analysis, Syntax Analysis, Semantic Analysis, Intermediate Code Generation, Optimization, and Code Generation</a:t>
            </a:r>
            <a:r>
              <a:rPr lang="en-IN" sz="2000" dirty="0"/>
              <a:t>. </a:t>
            </a:r>
          </a:p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Each phase performs a specific task to improve the correctness and efficiency of the program.</a:t>
            </a:r>
          </a:p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 Understanding these phases helps us learn how modern programming languages are compiled and executed efficiently.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Compiler Basics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790956" y="1746504"/>
            <a:ext cx="106070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Compiler Basics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Source Code</a:t>
            </a:r>
          </a:p>
          <a:p>
            <a:pPr>
              <a:lnSpc>
                <a:spcPct val="150000"/>
              </a:lnSpc>
            </a:pPr>
            <a:r>
              <a:rPr lang="en-IN" dirty="0"/>
              <a:t>Program written by the programmer in a high-level language (e.g., C, Java, Python).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Compiler</a:t>
            </a:r>
          </a:p>
          <a:p>
            <a:pPr>
              <a:lnSpc>
                <a:spcPct val="150000"/>
              </a:lnSpc>
            </a:pPr>
            <a:r>
              <a:rPr lang="en-IN" dirty="0"/>
              <a:t>Translates source code into machine code before execution.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Interpreter</a:t>
            </a:r>
          </a:p>
          <a:p>
            <a:pPr>
              <a:lnSpc>
                <a:spcPct val="150000"/>
              </a:lnSpc>
            </a:pPr>
            <a:r>
              <a:rPr lang="en-IN" dirty="0"/>
              <a:t>Executes source code line by line without generating a separate executable.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Compilation Process</a:t>
            </a:r>
          </a:p>
          <a:p>
            <a:pPr>
              <a:lnSpc>
                <a:spcPct val="150000"/>
              </a:lnSpc>
            </a:pPr>
            <a:r>
              <a:rPr lang="en-IN" dirty="0"/>
              <a:t>Converts source code into executable machine code through multiple compiler phases.</a:t>
            </a:r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Compilation Pipeline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920344" y="159791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compilation process transforms source code through a well-defined sequence of phases: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1048360" y="233172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0070C0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483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380080" y="2628900"/>
            <a:ext cx="256032" cy="182880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9" name="Shape 5"/>
          <p:cNvSpPr/>
          <p:nvPr/>
        </p:nvSpPr>
        <p:spPr>
          <a:xfrm>
            <a:off x="3636112" y="233172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36112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Lexical Analysis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967832" y="2628900"/>
            <a:ext cx="256032" cy="182880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12" name="Shape 8"/>
          <p:cNvSpPr/>
          <p:nvPr/>
        </p:nvSpPr>
        <p:spPr>
          <a:xfrm>
            <a:off x="6223864" y="233172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864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 Analysis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55584" y="2628900"/>
            <a:ext cx="256032" cy="182880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15" name="Shape 11"/>
          <p:cNvSpPr/>
          <p:nvPr/>
        </p:nvSpPr>
        <p:spPr>
          <a:xfrm>
            <a:off x="8811616" y="233172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811616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Analysis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48360" y="352044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836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380080" y="3817620"/>
            <a:ext cx="256032" cy="182880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20" name="Shape 16"/>
          <p:cNvSpPr/>
          <p:nvPr/>
        </p:nvSpPr>
        <p:spPr>
          <a:xfrm>
            <a:off x="3636112" y="352044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36112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Code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967832" y="3817620"/>
            <a:ext cx="256032" cy="182880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23" name="Shape 19"/>
          <p:cNvSpPr/>
          <p:nvPr/>
        </p:nvSpPr>
        <p:spPr>
          <a:xfrm>
            <a:off x="6223864" y="352044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23864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555584" y="3817620"/>
            <a:ext cx="256032" cy="182880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26" name="Shape 22"/>
          <p:cNvSpPr/>
          <p:nvPr/>
        </p:nvSpPr>
        <p:spPr>
          <a:xfrm>
            <a:off x="8811616" y="352044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0070C0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811616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Intermediate Code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9876892" y="3108960"/>
            <a:ext cx="201168" cy="411480"/>
          </a:xfrm>
          <a:prstGeom prst="downArrow">
            <a:avLst/>
          </a:prstGeom>
          <a:solidFill>
            <a:srgbClr val="0070C0"/>
          </a:solidFill>
          <a:ln/>
        </p:spPr>
      </p:sp>
      <p:sp>
        <p:nvSpPr>
          <p:cNvPr id="29" name="Text 25"/>
          <p:cNvSpPr/>
          <p:nvPr/>
        </p:nvSpPr>
        <p:spPr>
          <a:xfrm>
            <a:off x="777240" y="4617720"/>
            <a:ext cx="108673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Compilation begins with the </a:t>
            </a:r>
            <a:r>
              <a:rPr lang="en-IN" sz="1600" b="1" dirty="0"/>
              <a:t>source code</a:t>
            </a:r>
            <a:r>
              <a:rPr lang="en-IN" sz="1600" dirty="0"/>
              <a:t> written by the programmer.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The compiler processes the code through multiple phases, each performing a specific task.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Errors are detected and corrected during the early phases of compilation.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The program is optimized to improve performance and reduce unnecessary operations. Finally, machine code is generated and executed by the computer.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ABDA-CD46-23E4-51CD-9FE04E5B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>
            <a:extLst>
              <a:ext uri="{FF2B5EF4-FFF2-40B4-BE49-F238E27FC236}">
                <a16:creationId xmlns:a16="http://schemas.microsoft.com/office/drawing/2014/main" id="{8BD0EEAE-BAA1-A9F8-BA59-03B20A64F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>
            <a:extLst>
              <a:ext uri="{FF2B5EF4-FFF2-40B4-BE49-F238E27FC236}">
                <a16:creationId xmlns:a16="http://schemas.microsoft.com/office/drawing/2014/main" id="{3441F250-2B98-EE76-CBCA-1EBD11320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9AD0BA8-71B9-D64B-A00A-A382DFE59FE9}"/>
              </a:ext>
            </a:extLst>
          </p:cNvPr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Lexical Analysis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851F039-842D-62EA-51F7-476D959D9542}"/>
              </a:ext>
            </a:extLst>
          </p:cNvPr>
          <p:cNvSpPr/>
          <p:nvPr/>
        </p:nvSpPr>
        <p:spPr>
          <a:xfrm>
            <a:off x="777240" y="137160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endParaRPr lang="en-US" sz="17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0372F21-517A-F391-68D6-2C97AC8A8300}"/>
              </a:ext>
            </a:extLst>
          </p:cNvPr>
          <p:cNvSpPr/>
          <p:nvPr/>
        </p:nvSpPr>
        <p:spPr>
          <a:xfrm>
            <a:off x="100584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6BDDBB3-85A5-5BFA-5BD7-648F88C311B0}"/>
              </a:ext>
            </a:extLst>
          </p:cNvPr>
          <p:cNvSpPr/>
          <p:nvPr/>
        </p:nvSpPr>
        <p:spPr>
          <a:xfrm>
            <a:off x="100584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5ABA3E5-5B2D-1260-3C65-4CC30B2F9CCA}"/>
              </a:ext>
            </a:extLst>
          </p:cNvPr>
          <p:cNvSpPr/>
          <p:nvPr/>
        </p:nvSpPr>
        <p:spPr>
          <a:xfrm>
            <a:off x="1005840" y="48463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F411D3-9793-8C21-0510-A84E208C90C4}"/>
              </a:ext>
            </a:extLst>
          </p:cNvPr>
          <p:cNvSpPr txBox="1"/>
          <p:nvPr/>
        </p:nvSpPr>
        <p:spPr>
          <a:xfrm>
            <a:off x="5660680" y="1838358"/>
            <a:ext cx="6144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First phase of the compiler that scans the source code. Breaks the program into </a:t>
            </a:r>
            <a:r>
              <a:rPr lang="en-IN" b="1" dirty="0"/>
              <a:t>tokens</a:t>
            </a:r>
            <a:r>
              <a:rPr lang="en-IN" dirty="0"/>
              <a:t> (Keyword, Identifier, Operator, Literal, Punctuation).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Ignores unnecessary spaces and comments during scanning.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Passes the generated tokens to the </a:t>
            </a:r>
            <a:r>
              <a:rPr lang="en-IN" b="1" dirty="0"/>
              <a:t>Syntax Analysis</a:t>
            </a:r>
            <a:r>
              <a:rPr lang="en-IN" dirty="0"/>
              <a:t> phase.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54C3B58-B5A8-D57B-B820-AF31EB02D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22" y="1628168"/>
            <a:ext cx="4407253" cy="48163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C804A8-01D4-7C45-292F-34C37B9BF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092" y="5001212"/>
            <a:ext cx="3395005" cy="5784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CA50F0-AC90-C714-FAA2-CDFBB231D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6605" y="4513751"/>
            <a:ext cx="3138250" cy="21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16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 Analysis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985779" y="1616435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Checks whether the sequence of tokens follows the language grammar.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Detects syntax errors such as missing symbols or incorrect statement structure.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Builds a </a:t>
            </a:r>
            <a:r>
              <a:rPr lang="en-IN" sz="1600" b="1" dirty="0"/>
              <a:t>Parse Tree</a:t>
            </a:r>
            <a:r>
              <a:rPr lang="en-IN" sz="1600" dirty="0"/>
              <a:t> to represent the grammatical structure of the program.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1600" dirty="0"/>
              <a:t>Passes the validated structure to the </a:t>
            </a:r>
            <a:r>
              <a:rPr lang="en-IN" sz="1600" b="1" dirty="0"/>
              <a:t>Semantic Analysis</a:t>
            </a:r>
            <a:r>
              <a:rPr lang="en-IN" sz="1600" dirty="0"/>
              <a:t> phase.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5440680" y="3794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4068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 (=)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246120" y="46634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46120" y="4663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269480" y="46634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69480" y="4663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 (+)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46520" y="553212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5532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58200" y="553212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58200" y="5532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 flipH="1">
            <a:off x="3840480" y="4251960"/>
            <a:ext cx="2194560" cy="411480"/>
          </a:xfrm>
          <a:prstGeom prst="line">
            <a:avLst/>
          </a:prstGeom>
          <a:noFill/>
          <a:ln w="12700">
            <a:solidFill>
              <a:srgbClr val="0070C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4251960"/>
            <a:ext cx="1828800" cy="411480"/>
          </a:xfrm>
          <a:prstGeom prst="line">
            <a:avLst/>
          </a:prstGeom>
          <a:noFill/>
          <a:ln w="12700">
            <a:solidFill>
              <a:srgbClr val="0070C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flipH="1">
            <a:off x="6858000" y="5120640"/>
            <a:ext cx="1005840" cy="411480"/>
          </a:xfrm>
          <a:prstGeom prst="line">
            <a:avLst/>
          </a:prstGeom>
          <a:noFill/>
          <a:ln w="12700">
            <a:solidFill>
              <a:srgbClr val="0070C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0" y="5120640"/>
            <a:ext cx="1005840" cy="411480"/>
          </a:xfrm>
          <a:prstGeom prst="line">
            <a:avLst/>
          </a:prstGeom>
          <a:noFill/>
          <a:ln w="12700">
            <a:solidFill>
              <a:srgbClr val="0070C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Analysis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142720" y="1973985"/>
            <a:ext cx="1062318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400" dirty="0"/>
              <a:t>Checks whether the program is </a:t>
            </a:r>
            <a:r>
              <a:rPr lang="en-IN" sz="2400" b="1" dirty="0"/>
              <a:t>logically correct</a:t>
            </a:r>
            <a:r>
              <a:rPr lang="en-IN" sz="2400" dirty="0"/>
              <a:t> after syntax analysis. </a:t>
            </a:r>
          </a:p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400" dirty="0"/>
              <a:t>Verifies </a:t>
            </a:r>
            <a:r>
              <a:rPr lang="en-IN" sz="2400" b="1" dirty="0"/>
              <a:t>data types</a:t>
            </a:r>
            <a:r>
              <a:rPr lang="en-IN" sz="2400" dirty="0"/>
              <a:t> to ensure operations are valid. </a:t>
            </a:r>
          </a:p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400" dirty="0"/>
              <a:t>Checks that variables and functions are </a:t>
            </a:r>
            <a:r>
              <a:rPr lang="en-IN" sz="2400" b="1" dirty="0"/>
              <a:t>declared before use</a:t>
            </a:r>
            <a:r>
              <a:rPr lang="en-IN" sz="2400" dirty="0"/>
              <a:t>. </a:t>
            </a:r>
          </a:p>
          <a:p>
            <a:pPr marL="228600" indent="-228600">
              <a:lnSpc>
                <a:spcPct val="200000"/>
              </a:lnSpc>
              <a:spcAft>
                <a:spcPts val="1000"/>
              </a:spcAft>
              <a:buSzPct val="100000"/>
              <a:buChar char="➤"/>
            </a:pPr>
            <a:r>
              <a:rPr lang="en-IN" sz="2400" dirty="0"/>
              <a:t>Detects semantic errors such as </a:t>
            </a:r>
            <a:r>
              <a:rPr lang="en-IN" sz="2400" b="1" dirty="0"/>
              <a:t>type mismatches, undeclared variables, and invalid function calls</a:t>
            </a:r>
            <a:r>
              <a:rPr lang="en-IN" sz="2400" dirty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Intermediate Representation (IR)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777240" y="137160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77240" y="4518255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12534" y="5333191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C54907-FA42-51E6-CD3B-939F58535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81" y="2034434"/>
            <a:ext cx="4747671" cy="42447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CECD18-9CEF-9BFE-B71F-1E27BF7235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723" y="4807890"/>
            <a:ext cx="3962743" cy="14479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3B1C128-7454-8423-9246-38EC1C24F1E8}"/>
              </a:ext>
            </a:extLst>
          </p:cNvPr>
          <p:cNvSpPr txBox="1"/>
          <p:nvPr/>
        </p:nvSpPr>
        <p:spPr>
          <a:xfrm>
            <a:off x="5282315" y="2621697"/>
            <a:ext cx="6774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Converts the source program into an intermediate representation (IR).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Breaks complex expressions into simple three-address instructions.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Uses temporary variables (t1, t2, ...) to store intermediate results.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Simplifies code optimization and target code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Compiler Optimizations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444760" y="1611397"/>
            <a:ext cx="11747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90600" y="44622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60120" y="4617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46520" y="43159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46520" y="4617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543EB7-AC73-A064-043B-56016DEE6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60" y="1611397"/>
            <a:ext cx="5368211" cy="49606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934929-0F84-CD3D-C7D7-5E0648BAF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001" y="4096139"/>
            <a:ext cx="2651990" cy="23263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DE717E-40D3-F620-4FD4-905D325ED13A}"/>
              </a:ext>
            </a:extLst>
          </p:cNvPr>
          <p:cNvSpPr txBox="1"/>
          <p:nvPr/>
        </p:nvSpPr>
        <p:spPr>
          <a:xfrm>
            <a:off x="6379032" y="1818350"/>
            <a:ext cx="5676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Improves code efficiency without changing the program output.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Evaluates constant expressions at compile time (</a:t>
            </a:r>
            <a:r>
              <a:rPr lang="en-IN" b="1" dirty="0"/>
              <a:t>Constant Folding</a:t>
            </a:r>
            <a:r>
              <a:rPr lang="en-IN" dirty="0"/>
              <a:t>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Removes unnecessary operations such as </a:t>
            </a:r>
            <a:r>
              <a:rPr lang="en-IN" b="1" dirty="0"/>
              <a:t>+ 0</a:t>
            </a:r>
            <a:r>
              <a:rPr lang="en-IN" dirty="0"/>
              <a:t> and </a:t>
            </a:r>
            <a:r>
              <a:rPr lang="en-IN" b="1" dirty="0"/>
              <a:t>* 1</a:t>
            </a:r>
            <a:r>
              <a:rPr lang="en-IN" dirty="0"/>
              <a:t>. Produces faster and more optimized code for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Generation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777240" y="1971103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b="1" dirty="0"/>
              <a:t>Intermediate Representation (IR):</a:t>
            </a:r>
            <a:r>
              <a:rPr lang="en-IN" dirty="0"/>
              <a:t> Serves as the input for the code generation phase.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b="1" dirty="0"/>
              <a:t>Instruction Selection:</a:t>
            </a:r>
            <a:r>
              <a:rPr lang="en-IN" dirty="0"/>
              <a:t> Converts IR operations into equivalent machine instructions. ‘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b="1" dirty="0"/>
              <a:t>Register Allocation:</a:t>
            </a:r>
            <a:r>
              <a:rPr lang="en-IN" dirty="0"/>
              <a:t> Assigns CPU registers to variables for efficient execution.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b="1" dirty="0"/>
              <a:t>Assembly/Machine Code:</a:t>
            </a:r>
            <a:r>
              <a:rPr lang="en-IN" dirty="0"/>
              <a:t> Produces the final executable code that the processor can run.</a:t>
            </a: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845820" y="524179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45820" y="5217025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41227" y="5565267"/>
            <a:ext cx="320040" cy="201168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9" name="Shape 5"/>
          <p:cNvSpPr/>
          <p:nvPr/>
        </p:nvSpPr>
        <p:spPr>
          <a:xfrm>
            <a:off x="3604108" y="5271913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04108" y="5286375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20740" y="5651389"/>
            <a:ext cx="320040" cy="201168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12" name="Shape 8"/>
          <p:cNvSpPr/>
          <p:nvPr/>
        </p:nvSpPr>
        <p:spPr>
          <a:xfrm>
            <a:off x="6255868" y="524179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55868" y="524179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587588" y="5565267"/>
            <a:ext cx="320040" cy="201168"/>
          </a:xfrm>
          <a:prstGeom prst="rightArrow">
            <a:avLst/>
          </a:prstGeom>
          <a:solidFill>
            <a:srgbClr val="0070C0"/>
          </a:solidFill>
          <a:ln/>
        </p:spPr>
      </p:sp>
      <p:sp>
        <p:nvSpPr>
          <p:cNvPr id="15" name="Shape 11"/>
          <p:cNvSpPr/>
          <p:nvPr/>
        </p:nvSpPr>
        <p:spPr>
          <a:xfrm>
            <a:off x="8907628" y="5217025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070C0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07628" y="5217025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Assembly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Code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74604" y="1600200"/>
            <a:ext cx="111379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A compiler transforms high-level source code into executable machine code through a series of well-defined phases.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Each compiler phase—Lexical Analysis, Syntax Analysis, Semantic Analysis, Intermediate Code Generation, Optimization, and Code Generation—plays a vital role in producing correct and efficient programs.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Compiler optimization techniques improve execution speed, reduce resource usage, and generate high-quality machine code.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Modern compiler technologies continue to evolve by supporting new programming languages, advanced hardware, and AI-assisted optimization. </a:t>
            </a:r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IN" sz="2000" dirty="0"/>
              <a:t>Understanding compiler design provides a strong foundation for programming languages, software development, and system-level computing.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56032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991844" y="1940767"/>
            <a:ext cx="106070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Aho, A. V., Lam, M. S., Sethi, R., &amp; Ullman, J. D. (2006). Compilers: Principles, Techniques, and Tools (2nd ed.). Pearson.</a:t>
            </a:r>
            <a:endParaRPr lang="en-US" sz="1550" dirty="0"/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Lattner, C., &amp; Adve, V. (2004). LLVM: A Compilation Framework for Lifelong Program Analysis &amp; Transformation. Proceedings of CGO.</a:t>
            </a:r>
            <a:endParaRPr lang="en-US" sz="1550" dirty="0"/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LLVM Project. (2026). LLVM Language Reference Manual. https://llvm.org/docs</a:t>
            </a:r>
            <a:endParaRPr lang="en-US" sz="1550" dirty="0"/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GNU Project. (2026). GCC Online Documentation. https://gcc.gnu.org/onlinedocs</a:t>
            </a:r>
            <a:endParaRPr lang="en-US" sz="1550" dirty="0"/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Haas, A., et al. (2017). Bringing the Web up to Speed with WebAssembly. Proceedings of ACM SIGPLAN PLDI.</a:t>
            </a:r>
            <a:endParaRPr lang="en-US" sz="1550" dirty="0"/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Software Foundation. (2026). CPython Developer's Guide. https://devguide.python.org</a:t>
            </a:r>
            <a:endParaRPr lang="en-US" sz="1550" dirty="0"/>
          </a:p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Oracle. (2026). The Java Virtual Machine Specification. https://docs.oracle.com/javase/specs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6BCEB-09C6-018C-0DA1-A92370D1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>
            <a:extLst>
              <a:ext uri="{FF2B5EF4-FFF2-40B4-BE49-F238E27FC236}">
                <a16:creationId xmlns:a16="http://schemas.microsoft.com/office/drawing/2014/main" id="{1C6920FB-8476-DB1C-887F-4483A8AF4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>
            <a:extLst>
              <a:ext uri="{FF2B5EF4-FFF2-40B4-BE49-F238E27FC236}">
                <a16:creationId xmlns:a16="http://schemas.microsoft.com/office/drawing/2014/main" id="{67ADCC23-434E-437D-3D8D-86F2C2C1C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5DB2067-4F94-665A-C234-1BE635C3F491}"/>
              </a:ext>
            </a:extLst>
          </p:cNvPr>
          <p:cNvSpPr/>
          <p:nvPr/>
        </p:nvSpPr>
        <p:spPr>
          <a:xfrm>
            <a:off x="1373124" y="2943249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5084E07-4557-069A-654F-FFC0078DB347}"/>
              </a:ext>
            </a:extLst>
          </p:cNvPr>
          <p:cNvSpPr/>
          <p:nvPr/>
        </p:nvSpPr>
        <p:spPr>
          <a:xfrm>
            <a:off x="991844" y="1940767"/>
            <a:ext cx="106070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endParaRPr lang="en-US" sz="15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9EAA19-77CB-3736-91DB-1DED7ED45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124" y="1250302"/>
            <a:ext cx="9199236" cy="465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0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79AE-C023-F31F-23E6-0E3CD8A6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jpg">
            <a:extLst>
              <a:ext uri="{FF2B5EF4-FFF2-40B4-BE49-F238E27FC236}">
                <a16:creationId xmlns:a16="http://schemas.microsoft.com/office/drawing/2014/main" id="{6409A73E-A308-4960-1431-E8E6F82EA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2024"/>
            <a:ext cx="978408" cy="1234440"/>
          </a:xfrm>
          <a:prstGeom prst="rect">
            <a:avLst/>
          </a:prstGeom>
        </p:spPr>
      </p:pic>
      <p:pic>
        <p:nvPicPr>
          <p:cNvPr id="3" name="Image 1" descr="assets/logo_right.jpg">
            <a:extLst>
              <a:ext uri="{FF2B5EF4-FFF2-40B4-BE49-F238E27FC236}">
                <a16:creationId xmlns:a16="http://schemas.microsoft.com/office/drawing/2014/main" id="{EB6FCA12-DB94-7E4F-95F5-45DC53092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82296"/>
            <a:ext cx="1517904" cy="134416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562AEF8-F17A-7A15-717C-598199843B84}"/>
              </a:ext>
            </a:extLst>
          </p:cNvPr>
          <p:cNvSpPr/>
          <p:nvPr/>
        </p:nvSpPr>
        <p:spPr>
          <a:xfrm>
            <a:off x="1373124" y="2943249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D2AC86C-581C-5501-7B19-1971711DDEB6}"/>
              </a:ext>
            </a:extLst>
          </p:cNvPr>
          <p:cNvSpPr/>
          <p:nvPr/>
        </p:nvSpPr>
        <p:spPr>
          <a:xfrm>
            <a:off x="991844" y="1940767"/>
            <a:ext cx="106070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1000"/>
              </a:spcAft>
              <a:buSzPct val="100000"/>
              <a:buChar char="➤"/>
            </a:pP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68607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882</Words>
  <Application>Microsoft Office PowerPoint</Application>
  <PresentationFormat>Widescreen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192424187.simats@saveetha.com</cp:lastModifiedBy>
  <cp:revision>3</cp:revision>
  <dcterms:created xsi:type="dcterms:W3CDTF">2026-07-28T04:33:59Z</dcterms:created>
  <dcterms:modified xsi:type="dcterms:W3CDTF">2026-07-30T05:46:58Z</dcterms:modified>
</cp:coreProperties>
</file>